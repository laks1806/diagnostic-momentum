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 · benchmark prompt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Copied once</c:v>
                </c:pt>
                <c:pt idx="2">
                  <c:v>Copied 3×</c:v>
                </c:pt>
                <c:pt idx="3">
                  <c:v>3× + ruled out</c:v>
                </c:pt>
                <c:pt idx="4">
                  <c:v>Early, then dropped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</c:v>
                </c:pt>
                <c:pt idx="1">
                  <c:v>0.9</c:v>
                </c:pt>
                <c:pt idx="2">
                  <c:v>0.92</c:v>
                </c:pt>
                <c:pt idx="3">
                  <c:v>0.48</c:v>
                </c:pt>
                <c:pt idx="4">
                  <c:v>0.8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500" b="1">
                  <a:solidFill>
                    <a:srgbClr val="1623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66D"/>
                </a:solidFill>
              </a:defRPr>
            </a:pPr>
          </a:p>
        </c:txPr>
        <c:crossAx val="-2068027336"/>
        <c:crosses val="autoZero"/>
        <c:majorUnit val="0.25"/>
      </c:valAx>
    </c:plotArea>
    <c:dispBlanksAs val="gap"/>
  </c:chart>
  <c:txPr>
    <a:bodyPr/>
    <a:lstStyle/>
    <a:p>
      <a:pPr>
        <a:defRPr sz="1300">
          <a:solidFill>
            <a:srgbClr val="16232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 · benchmark prompt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Copied 3×</c:v>
                </c:pt>
                <c:pt idx="1">
                  <c:v>3× + ruled 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</c:v>
                </c:pt>
                <c:pt idx="1">
                  <c:v>0.48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 · + “lists may be wrong”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Copied 3×</c:v>
                </c:pt>
                <c:pt idx="1">
                  <c:v>3× + ruled out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0.58</c:v>
                </c:pt>
                <c:pt idx="1">
                  <c:v>0.22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S3 · + evidence auditor</c:v>
                </c:pt>
              </c:strCache>
            </c:strRef>
          </c:tx>
          <c:spPr>
            <a:solidFill>
              <a:srgbClr val="1BAF7A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Copied 3×</c:v>
                </c:pt>
                <c:pt idx="1">
                  <c:v>3× + ruled out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</c:v>
                </c:pt>
                <c:pt idx="1">
                  <c:v>0.12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500" b="1">
                  <a:solidFill>
                    <a:srgbClr val="1623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66D"/>
                </a:solidFill>
              </a:defRPr>
            </a:pPr>
          </a:p>
        </c:txPr>
        <c:crossAx val="-2068027336"/>
        <c:crosses val="autoZero"/>
        <c:majorUnit val="0.25"/>
      </c:valAx>
    </c:plotArea>
    <c:legend>
      <c:legendPos val="t"/>
      <c:overlay val="0"/>
      <c:txPr>
        <a:bodyPr/>
        <a:lstStyle/>
        <a:p>
          <a:pPr>
            <a:defRPr sz="1300">
              <a:solidFill>
                <a:srgbClr val="56666D"/>
              </a:solidFill>
            </a:defRPr>
          </a:pPr>
        </a:p>
      </c:txPr>
    </c:legend>
    <c:dispBlanksAs val="gap"/>
  </c:chart>
  <c:txPr>
    <a:bodyPr/>
    <a:lstStyle/>
    <a:p>
      <a:pPr>
        <a:defRPr sz="1300">
          <a:solidFill>
            <a:srgbClr val="16232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[0:00–0:15] Hi, I'm Lakshita Singh. For Topic 2, clinical decision making and pattern recognition, I asked one question: do AI medical coders copy a wrong diagnosis forward, and put it on the claim?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[0:15–0:40] Every visit note carries an Active Problem List that is copied from the previous note. Doctors call the resulting failure diagnostic momentum: once a diagnosis is written down, it gets repeated without being re-checked. Today, AI coders read these charts and assign the ICD-10 codes that claims are paid on. If the AI trusts the problem list, it codes the error. The highlighted line here is one I planted.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[0:40–1:00] This matters now. After adopting AI scribes, hospitals billed twelve to twenty points more visits at the top levels, and payers are answering with their own AI: a coding arms race. CMS started AI-assisted prior authorization this year. And research shows language models accept false medical evidence at face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[1:00–1:20] Real charts can't tell us whether a copied diagnosis is wrong. Synthetic Hospital, released by Carnegie Mellon this month, can: 1,268 synthetic patients, charts physicians can't tell from real ones, and a verified answer key. Its authors say it doesn't yet simulate documentation errors, so that's the layer I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[1:20–1:45] For fifty patients, I picked one believable wrong diagnosis, a tempting wrong exam answer that matches at least two findings in the chart, and planted it as a single problem-list line. The AI coder only sees the chart. The answer key, and which diagnosis is fake, go straight to the scorer.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[1:45–2:00] Each patient appears in five versions: clean, copied once, copied three times, three times plus a note saying it was ruled out, and planted early then dropped. Only that one line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[2:00–2:20] Result one. On clean charts the AI almost never codes the fake: two percent. Copy it in once, and it codes it ninety percent of the time. Even when the chart explicitly says it was ruled out: forty-eight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[2:20–2:45] Can we fix it? A warning in the prompt only brings ninety-two percent down to fifty-eight. A design change works much better: an evidence auditor, a second step that keeps a code only if it can quote evidence from the visit notes. That cuts it to twenty percent, with accuracy on the true diagnoses essentially unchanged, for about a fifth of a cent per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[2:45–3:00] And it isn't one model's quirk. Two Gemini models show the same effect at lower rates. Interestingly, they respect the ruled-out note, which gpt-oss ignores half the time. So every AI tool needs its own stress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[3:00–4:15] SWITCH TO THE DEMO APP. Let me show it. The Results tab has the headline numbers. Now patient 1992, copied three times: here is the fake, morbid obesity, in the problem list. The AI coder codes it, and it's tagged planted fake. I switch to the ruled-out version: the latest note says it was excluded, and the coder still codes it. Now the evidence auditor: it drops the fake, keeps every true diagnosis with a quoted sentence as proof, and accuracy goes to one point zero. SWITCH BACK TO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[4:15–4:35] For Cotiviti, the opportunities are evidence-cited chart review at scale and cheap, verifiable model testing. The threats are automated overpayment, and false confidence in prompt-level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[4:35–4:55] So, three recommendations: adopt an evidence-first standard for AI coding; make planted-error stress tests a release gate for every model; and lead on documentation-evidence standards in the coding arms race. The whole study cost one dollar fifteen.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COTIVITI INTERN ASSESSMENT · TOPIC 2: CLINICAL DECISION MAKING &amp; PATTERN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5800" b="1" i="0">
                <a:solidFill>
                  <a:srgbClr val="16232A"/>
                </a:solidFill>
                <a:latin typeface="Georgia"/>
              </a:rPr>
              <a:t>Diagnostic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0" i="0">
                <a:solidFill>
                  <a:srgbClr val="56666D"/>
                </a:solidFill>
                <a:latin typeface="Segoe UI"/>
              </a:rPr>
              <a:t>Do AI medical coders copy a wrong diagnosis forward, and put it on the claim?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56666D"/>
                </a:solidFill>
                <a:latin typeface="Segoe UI"/>
              </a:rPr>
              <a:t>Lakshita Singh · September 2026 · Data: Synthetic Hospital v1.3 (Carnegie Mellon, 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43400"/>
            <a:ext cx="1097280" cy="54864"/>
          </a:xfrm>
          <a:prstGeom prst="rect">
            <a:avLst/>
          </a:prstGeom>
          <a:solidFill>
            <a:srgbClr val="B8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Charts copy their problem lists forward. Errors travel with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 i="0">
                <a:solidFill>
                  <a:srgbClr val="16232A"/>
                </a:solidFill>
                <a:latin typeface="Segoe UI"/>
              </a:rPr>
              <a:t>Diagnostic momentum: </a:t>
            </a:r>
            <a:r>
              <a:rPr sz="1700" b="0" i="0">
                <a:solidFill>
                  <a:srgbClr val="16232A"/>
                </a:solidFill>
                <a:latin typeface="Segoe UI"/>
              </a:rPr>
              <a:t>once a diagnosis is written into the chart, it gets repeated and trusted without being re-checked (Croskerry, 2003).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0" i="0">
                <a:solidFill>
                  <a:srgbClr val="16232A"/>
                </a:solidFill>
                <a:latin typeface="Segoe UI"/>
              </a:rPr>
              <a:t>Copy-forward documentation spreads outdated or wrong entries from note to note (Hirschtick, 2006; Weis &amp; Levy, 2014).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 i="0">
                <a:solidFill>
                  <a:srgbClr val="16232A"/>
                </a:solidFill>
                <a:latin typeface="Segoe UI"/>
              </a:rPr>
              <a:t>AI medical coders </a:t>
            </a:r>
            <a:r>
              <a:rPr sz="1700" b="0" i="0">
                <a:solidFill>
                  <a:srgbClr val="16232A"/>
                </a:solidFill>
                <a:latin typeface="Segoe UI"/>
              </a:rPr>
              <a:t>now read these charts and assign the ICD-10 codes that claims are paid on.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 i="0">
                <a:solidFill>
                  <a:srgbClr val="1D5C74"/>
                </a:solidFill>
                <a:latin typeface="Segoe UI"/>
              </a:rPr>
              <a:t>If the AI trusts the problem list, it codes the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120640" cy="22402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19456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6232A"/>
                </a:solidFill>
                <a:latin typeface="Consolas"/>
              </a:rPr>
              <a:t>Active Problem List: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6232A"/>
                </a:solidFill>
                <a:latin typeface="Consolas"/>
              </a:rPr>
              <a:t>- Obesity (diagnosed 2020-01-15)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6232A"/>
                </a:solidFill>
                <a:latin typeface="Consolas"/>
              </a:rPr>
              <a:t>- Hyperlipidemia (diagnosed 2020-07-15)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4F3B00"/>
                </a:solidFill>
                <a:latin typeface="Consolas"/>
                <a:highlight>
                  <a:srgbClr val="F8E08E"/>
                </a:highlight>
              </a:rPr>
              <a:t>- Type 2 diabetes mellitus (diagnosed 2021-07-15)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6232A"/>
                </a:solidFill>
                <a:latin typeface="Consolas"/>
              </a:rPr>
              <a:t>- Hypertension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434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A real pilot patient. The highlighted line was planted: nothing else in the chart diagnoses diabetes.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AI is entering coding from both sides of the claim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42032" cy="3017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2139696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400" b="1" i="0">
                <a:solidFill>
                  <a:srgbClr val="16232A"/>
                </a:solidFill>
                <a:latin typeface="Georgia"/>
              </a:rPr>
              <a:t>+12–20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percentage points more new-patient visits billed at the top levels after hospitals adopted AI scribes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0">
                <a:solidFill>
                  <a:srgbClr val="56666D"/>
                </a:solidFill>
                <a:latin typeface="Consolas"/>
              </a:rPr>
              <a:t>Patton et al.,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103120"/>
            <a:ext cx="2542032" cy="3017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286000"/>
            <a:ext cx="2139696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400" b="1" i="0">
                <a:solidFill>
                  <a:srgbClr val="16232A"/>
                </a:solidFill>
                <a:latin typeface="Georgia"/>
              </a:rPr>
              <a:t>Arms race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Provider-side AI raises coding intensity; payers answer with their own AI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0">
                <a:solidFill>
                  <a:srgbClr val="56666D"/>
                </a:solidFill>
                <a:latin typeface="Consolas"/>
              </a:rPr>
              <a:t>Dai et al., 2025; Nong &amp; Neprash,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103120"/>
            <a:ext cx="2542032" cy="3017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286000"/>
            <a:ext cx="2139696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400" b="1" i="0">
                <a:solidFill>
                  <a:srgbClr val="16232A"/>
                </a:solidFill>
                <a:latin typeface="Georgia"/>
              </a:rPr>
              <a:t>Jan 2026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CMS WISeR: AI-assisted prior authorization, with human review of denials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0">
                <a:solidFill>
                  <a:srgbClr val="56666D"/>
                </a:solidFill>
                <a:latin typeface="Consolas"/>
              </a:rPr>
              <a:t>CMS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103120"/>
            <a:ext cx="2542032" cy="3017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2286000"/>
            <a:ext cx="2139696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400" b="1" i="0">
                <a:solidFill>
                  <a:srgbClr val="16232A"/>
                </a:solidFill>
                <a:latin typeface="Georgia"/>
              </a:rPr>
              <a:t>Accept it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LLMs take false medical evidence at face value and struggle to spot errors in paired notes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0">
                <a:solidFill>
                  <a:srgbClr val="56666D"/>
                </a:solidFill>
                <a:latin typeface="Consolas"/>
              </a:rPr>
              <a:t>Mo et al., 2026; Zhang &amp; Beheshti,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Synthetic Hospital: realistic charts with a verified answer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1737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20665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400" b="1" i="0">
                <a:solidFill>
                  <a:srgbClr val="16232A"/>
                </a:solidFill>
                <a:latin typeface="Georgia"/>
              </a:rPr>
              <a:t>1,268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synthetic patients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103120"/>
            <a:ext cx="2468880" cy="1737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2286000"/>
            <a:ext cx="20665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400" b="1" i="0">
                <a:solidFill>
                  <a:srgbClr val="16232A"/>
                </a:solidFill>
                <a:latin typeface="Georgia"/>
              </a:rPr>
              <a:t>5,602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visits, ~4.4 per patient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2468880" cy="1737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60519"/>
            <a:ext cx="20665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400" b="1" i="0">
                <a:solidFill>
                  <a:srgbClr val="16232A"/>
                </a:solidFill>
                <a:latin typeface="Georgia"/>
              </a:rPr>
              <a:t>53%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physicians' accuracy telling synthetic charts from real ones (chance is 50%)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977639"/>
            <a:ext cx="2468880" cy="1737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4160519"/>
            <a:ext cx="20665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400" b="1" i="0">
                <a:solidFill>
                  <a:srgbClr val="16232A"/>
                </a:solidFill>
                <a:latin typeface="Georgia"/>
              </a:rPr>
              <a:t>0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real patients: shareable, and every diagnosis is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5212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 i="0">
                <a:solidFill>
                  <a:srgbClr val="16232A"/>
                </a:solidFill>
                <a:latin typeface="Segoe UI"/>
              </a:rPr>
              <a:t>Released September 2026 </a:t>
            </a:r>
            <a:r>
              <a:rPr sz="1700" b="0" i="0">
                <a:solidFill>
                  <a:srgbClr val="16232A"/>
                </a:solidFill>
                <a:latin typeface="Segoe UI"/>
              </a:rPr>
              <a:t>by Carnegie Mellon (Park, Chen &amp; Dettmers). Each diagnosis is grounded in ICD-10-CM, SNOMED CT and LOINC, with a knowledge graph of findings.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0" i="0">
                <a:solidFill>
                  <a:srgbClr val="16232A"/>
                </a:solidFill>
                <a:latin typeface="Segoe UI"/>
              </a:rPr>
              <a:t>Real charts can't show whether a copied diagnosis is wrong. Here we know, so we can plant an error and measure what the AI does with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343400"/>
            <a:ext cx="45720" cy="822960"/>
          </a:xfrm>
          <a:prstGeom prst="rect">
            <a:avLst/>
          </a:prstGeom>
          <a:solidFill>
            <a:srgbClr val="B8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343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6232A"/>
                </a:solidFill>
                <a:latin typeface="Segoe UI"/>
              </a:rPr>
              <a:t>The authors' stated gap: the benchmark “does not explicitly simulate documentation errors.” This project adds that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Plant one believable fake per patient, then watch the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5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Synthetic Hospital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50 patients with 5+ visits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Knowledge graph of findings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Answer key: true diagnoses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5" y="196596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B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5" y="210312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Pick a fake diagnosis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A tempting wrong exam answer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≥ 2 matching findings in chart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Fits the patient's age and sex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751" y="196596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B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1" y="210312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Plant it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One line in the problem list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5 versions of every chart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Nothing else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1" y="443484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1" y="457200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AI coder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S1: the benchmark's prompt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S2: + “lists may be wrong”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S3: + evidence auditor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5" y="443484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5" y="457200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Scorer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Accuracy vs the answer key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Did the fake get coded?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Paired tests, same patients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Results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gpt-oss-120b: 500 calls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Gemini Flash-Lite × 2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Total cost: $1.15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86200" y="2674620"/>
            <a:ext cx="630935" cy="0"/>
          </a:xfrm>
          <a:prstGeom prst="line">
            <a:avLst/>
          </a:prstGeom>
          <a:ln w="19050">
            <a:solidFill>
              <a:srgbClr val="1623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71815" y="2674620"/>
            <a:ext cx="630936" cy="0"/>
          </a:xfrm>
          <a:prstGeom prst="line">
            <a:avLst/>
          </a:prstGeom>
          <a:ln w="28575">
            <a:solidFill>
              <a:srgbClr val="B88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97495" y="2345436"/>
            <a:ext cx="1179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B88A00"/>
                </a:solidFill>
                <a:latin typeface="Segoe UI"/>
              </a:rPr>
              <a:t>1 fake each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80091" y="3383280"/>
            <a:ext cx="0" cy="1051560"/>
          </a:xfrm>
          <a:prstGeom prst="line">
            <a:avLst/>
          </a:prstGeom>
          <a:ln w="19050">
            <a:solidFill>
              <a:srgbClr val="1623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971531" y="37490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6666D"/>
                </a:solidFill>
                <a:latin typeface="Segoe UI"/>
              </a:rPr>
              <a:t>250 charts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671815" y="5143500"/>
            <a:ext cx="630936" cy="0"/>
          </a:xfrm>
          <a:prstGeom prst="line">
            <a:avLst/>
          </a:prstGeom>
          <a:ln w="19050">
            <a:solidFill>
              <a:srgbClr val="1623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886200" y="5143500"/>
            <a:ext cx="630935" cy="0"/>
          </a:xfrm>
          <a:prstGeom prst="line">
            <a:avLst/>
          </a:prstGeom>
          <a:ln w="19050">
            <a:solidFill>
              <a:srgbClr val="1623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08860" y="3383280"/>
            <a:ext cx="0" cy="502920"/>
          </a:xfrm>
          <a:prstGeom prst="line">
            <a:avLst/>
          </a:prstGeom>
          <a:ln w="19050">
            <a:solidFill>
              <a:srgbClr val="1D5C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08860" y="3886200"/>
            <a:ext cx="3031235" cy="0"/>
          </a:xfrm>
          <a:prstGeom prst="line">
            <a:avLst/>
          </a:prstGeom>
          <a:ln w="19050">
            <a:solidFill>
              <a:srgbClr val="1D5C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40095" y="3886200"/>
            <a:ext cx="0" cy="548640"/>
          </a:xfrm>
          <a:prstGeom prst="line">
            <a:avLst/>
          </a:prstGeom>
          <a:ln w="19050">
            <a:solidFill>
              <a:srgbClr val="1D5C7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74620" y="35935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D5C74"/>
                </a:solidFill>
                <a:latin typeface="Segoe UI"/>
              </a:rPr>
              <a:t>answer key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11695" y="3383280"/>
            <a:ext cx="0" cy="1051560"/>
          </a:xfrm>
          <a:prstGeom prst="line">
            <a:avLst/>
          </a:prstGeom>
          <a:ln w="25400">
            <a:solidFill>
              <a:srgbClr val="B88A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03135" y="35935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B88A00"/>
                </a:solidFill>
                <a:latin typeface="Segoe UI"/>
              </a:rPr>
              <a:t>which one is fake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The AI coder only ever sees the chart. The answer key and the identity of the fake go straight to the scorer.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Every patient, five versions. Only the fake line moves.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65960"/>
          <a:ext cx="10725911" cy="3621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/>
                <a:gridCol w="4480560"/>
                <a:gridCol w="4050791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100" b="0" spc="120">
                          <a:solidFill>
                            <a:srgbClr val="56666D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spc="120">
                          <a:solidFill>
                            <a:srgbClr val="56666D"/>
                          </a:solidFill>
                          <a:latin typeface="Segoe UI"/>
                        </a:rPr>
                        <a:t>What changes in the chart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spc="120">
                          <a:solidFill>
                            <a:srgbClr val="56666D"/>
                          </a:solidFill>
                          <a:latin typeface="Segoe UI"/>
                        </a:rPr>
                        <a:t>Question it answers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6232A"/>
                          </a:solidFill>
                          <a:latin typeface="Segoe UI"/>
                        </a:rPr>
                        <a:t>Clean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Nothing planted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Does the AI produce the fake on its own?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6232A"/>
                          </a:solidFill>
                          <a:latin typeface="Segoe UI"/>
                        </a:rPr>
                        <a:t>Copied once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F3B00"/>
                          </a:solidFill>
                          <a:latin typeface="Segoe UI"/>
                          <a:highlight>
                            <a:srgbClr val="F8E08E"/>
                          </a:highlight>
                        </a:rPr>
                        <a:t>Fake</a:t>
                      </a:r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 in the latest note's problem list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Is one copy enough to fool it?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6232A"/>
                          </a:solidFill>
                          <a:latin typeface="Segoe UI"/>
                        </a:rPr>
                        <a:t>Copied 3×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F3B00"/>
                          </a:solidFill>
                          <a:latin typeface="Segoe UI"/>
                          <a:highlight>
                            <a:srgbClr val="F8E08E"/>
                          </a:highlight>
                        </a:rPr>
                        <a:t>Fake</a:t>
                      </a:r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 in the last three notes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Does repetition make it more convincing?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6232A"/>
                          </a:solidFill>
                          <a:latin typeface="Segoe UI"/>
                        </a:rPr>
                        <a:t>3× + ruled out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Same, plus “…has since been ruled out on further workup”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Does the AI notice a direct contradiction?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6232A"/>
                          </a:solidFill>
                          <a:latin typeface="Segoe UI"/>
                        </a:rPr>
                        <a:t>Early, then dropped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F3B00"/>
                          </a:solidFill>
                          <a:latin typeface="Segoe UI"/>
                          <a:highlight>
                            <a:srgbClr val="F8E08E"/>
                          </a:highlight>
                        </a:rPr>
                        <a:t>Fake</a:t>
                      </a:r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 in three early notes, then gone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Does an old, dropped entry still get coded?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RESULT 1 · GPT-OSS-120B · 50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One copied line is enough: the AI codes the fake 90% of the time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965960"/>
          <a:ext cx="10725912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725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Share of charts where the AI coded the planted fake (S1, the benchmark's own prompt). Clean vs planted: paired McNemar p &lt; 0.001. 95% confidence intervals are in the written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RESULT 2 · THE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A warning helps a little. An evidence auditor cuts errors from 92% to 20%.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965960"/>
          <a:ext cx="649224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2194560"/>
            <a:ext cx="38404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S3 adds one step: </a:t>
            </a:r>
            <a:r>
              <a:rPr sz="1600" b="0" i="0">
                <a:solidFill>
                  <a:srgbClr val="16232A"/>
                </a:solidFill>
                <a:latin typeface="Segoe UI"/>
              </a:rPr>
              <a:t>a second call checks every code and keeps it only if it can quote evidence from the visit notes. Problem-list lines alone don't count.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600" b="0" i="0">
                <a:solidFill>
                  <a:srgbClr val="16232A"/>
                </a:solidFill>
                <a:latin typeface="Segoe UI"/>
              </a:rPr>
              <a:t>Accuracy on the true diagnoses is unchanged on planted charts (0.53 → 0.55) and dips slightly on clean ones (0.59 → 0.57).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600" b="0" i="0">
                <a:solidFill>
                  <a:srgbClr val="16232A"/>
                </a:solidFill>
                <a:latin typeface="Segoe UI"/>
              </a:rPr>
              <a:t>Cost of the auditor: </a:t>
            </a:r>
            <a:r>
              <a:rPr sz="1600" b="1" i="0">
                <a:solidFill>
                  <a:srgbClr val="16232A"/>
                </a:solidFill>
                <a:latin typeface="Segoe UI"/>
              </a:rPr>
              <a:t>about $0.002 per chart.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RESULT 3 · ACROSS MODEL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Every model is fooled. They differ on contradictions.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65960"/>
          <a:ext cx="6675120" cy="3401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1463040"/>
                <a:gridCol w="160020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0" spc="120">
                          <a:solidFill>
                            <a:srgbClr val="56666D"/>
                          </a:solidFill>
                          <a:latin typeface="Segoe UI"/>
                        </a:rPr>
                        <a:t>Version (S1)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spc="120">
                          <a:solidFill>
                            <a:srgbClr val="56666D"/>
                          </a:solidFill>
                          <a:latin typeface="Segoe UI"/>
                        </a:rPr>
                        <a:t>gpt-oss-120b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spc="120">
                          <a:solidFill>
                            <a:srgbClr val="56666D"/>
                          </a:solidFill>
                          <a:latin typeface="Segoe UI"/>
                        </a:rPr>
                        <a:t>Gemini 3.1 Flash-Lite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spc="120">
                          <a:solidFill>
                            <a:srgbClr val="56666D"/>
                          </a:solidFill>
                          <a:latin typeface="Segoe UI"/>
                        </a:rPr>
                        <a:t>Gemini 3.5 Flash-Lite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Clean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2%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2%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Copied once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90%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46%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54%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Copied 3×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92%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48%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61%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3× + ruled out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6232A"/>
                          </a:solidFill>
                          <a:latin typeface="Consolas"/>
                        </a:rPr>
                        <a:t>48%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6232A"/>
                          </a:solidFill>
                          <a:latin typeface="Consolas"/>
                        </a:rPr>
                        <a:t>2%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6232A"/>
                          </a:solidFill>
                          <a:latin typeface="Consolas"/>
                        </a:rPr>
                        <a:t>4%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Segoe UI"/>
                        </a:rPr>
                        <a:t>Early, then dropped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80%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37%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232A"/>
                          </a:solidFill>
                          <a:latin typeface="Consolas"/>
                        </a:rPr>
                        <a:t>51%</a:t>
                      </a:r>
                    </a:p>
                  </a:txBody>
                  <a:tcPr marL="109728" marR="109728" marT="54864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3DBDA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201168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F8E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048256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50" b="1" i="0">
                <a:solidFill>
                  <a:srgbClr val="4F3B00"/>
                </a:solidFill>
                <a:latin typeface="Segoe UI"/>
              </a:rPr>
              <a:t>GEMINI NUMBERS 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06040"/>
            <a:ext cx="36576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600" b="0" i="0">
                <a:solidFill>
                  <a:srgbClr val="16232A"/>
                </a:solidFill>
                <a:latin typeface="Segoe UI"/>
              </a:rPr>
              <a:t>The effect appears in models from two companies: near zero on clean charts, roughly half to nine in ten once the fake is copied in.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600" b="0" i="0">
                <a:solidFill>
                  <a:srgbClr val="16232A"/>
                </a:solidFill>
                <a:latin typeface="Segoe UI"/>
              </a:rPr>
              <a:t>Gemini respects “ruled out”; gpt-oss ignores it half the time. </a:t>
            </a:r>
            <a:r>
              <a:rPr sz="1600" b="1" i="0">
                <a:solidFill>
                  <a:srgbClr val="16232A"/>
                </a:solidFill>
                <a:latin typeface="Segoe UI"/>
              </a:rPr>
              <a:t>Each AI tool has its own blind spots, so each needs its own stress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See it on one patient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1D5C74"/>
                </a:solidFill>
                <a:latin typeface="Consolas"/>
              </a:rPr>
              <a:t>1   </a:t>
            </a:r>
            <a:r>
              <a:rPr sz="1800" b="0" i="0">
                <a:solidFill>
                  <a:srgbClr val="16232A"/>
                </a:solidFill>
                <a:latin typeface="Segoe UI"/>
              </a:rPr>
              <a:t>Results tab: the headline numbers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1D5C74"/>
                </a:solidFill>
                <a:latin typeface="Consolas"/>
              </a:rPr>
              <a:t>2   </a:t>
            </a:r>
            <a:r>
              <a:rPr sz="1800" b="0" i="0">
                <a:solidFill>
                  <a:srgbClr val="16232A"/>
                </a:solidFill>
                <a:latin typeface="Segoe UI"/>
              </a:rPr>
              <a:t>Patient #1992, “Copied 3×”: the fake in the problem list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1D5C74"/>
                </a:solidFill>
                <a:latin typeface="Consolas"/>
              </a:rPr>
              <a:t>3   </a:t>
            </a:r>
            <a:r>
              <a:rPr sz="1800" b="0" i="0">
                <a:solidFill>
                  <a:srgbClr val="16232A"/>
                </a:solidFill>
                <a:latin typeface="Segoe UI"/>
              </a:rPr>
              <a:t>The AI coder codes it, tagged Planted fake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1D5C74"/>
                </a:solidFill>
                <a:latin typeface="Consolas"/>
              </a:rPr>
              <a:t>4   </a:t>
            </a:r>
            <a:r>
              <a:rPr sz="1800" b="0" i="0">
                <a:solidFill>
                  <a:srgbClr val="16232A"/>
                </a:solidFill>
                <a:latin typeface="Segoe UI"/>
              </a:rPr>
              <a:t>“3× + ruled out”: it still codes it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1D5C74"/>
                </a:solidFill>
                <a:latin typeface="Consolas"/>
              </a:rPr>
              <a:t>5   </a:t>
            </a:r>
            <a:r>
              <a:rPr sz="1800" b="0" i="0">
                <a:solidFill>
                  <a:srgbClr val="16232A"/>
                </a:solidFill>
                <a:latin typeface="Segoe UI"/>
              </a:rPr>
              <a:t>The evidence auditor drops the fake, keeps every true diagnosis with a quote, accuracy 1.00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103120"/>
            <a:ext cx="4114800" cy="1737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228600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Run locally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 i="0">
                <a:solidFill>
                  <a:srgbClr val="16232A"/>
                </a:solidFill>
                <a:latin typeface="Consolas"/>
              </a:rPr>
              <a:t>streamlit run app.py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56666D"/>
                </a:solidFill>
                <a:latin typeface="Segoe UI"/>
              </a:rPr>
              <a:t>Reads saved results only. No API calls, no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FOR COTIVITI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Opportunities and threats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66944" cy="39319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7548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00" b="1" i="0">
                <a:solidFill>
                  <a:srgbClr val="1D5C74"/>
                </a:solidFill>
                <a:latin typeface="Segoe UI"/>
              </a:rPr>
              <a:t>OPPORTUNITIES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•  Evidence-cited chart review at scale: </a:t>
            </a:r>
            <a:r>
              <a:rPr sz="1600" b="0" i="0">
                <a:solidFill>
                  <a:srgbClr val="16232A"/>
                </a:solidFill>
                <a:latin typeface="Segoe UI"/>
              </a:rPr>
              <a:t>every code backed by a quote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•  Cheap, verifiable model testing: </a:t>
            </a:r>
            <a:r>
              <a:rPr sz="1600" b="0" i="0">
                <a:solidFill>
                  <a:srgbClr val="16232A"/>
                </a:solidFill>
                <a:latin typeface="Segoe UI"/>
              </a:rPr>
              <a:t>this whole study cost $1.15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•  Operations triage: </a:t>
            </a:r>
            <a:r>
              <a:rPr sz="1600" b="0" i="0">
                <a:solidFill>
                  <a:srgbClr val="16232A"/>
                </a:solidFill>
                <a:latin typeface="Segoe UI"/>
              </a:rPr>
              <a:t>route problem-list-only codes to human reviewers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011680"/>
            <a:ext cx="5266944" cy="39319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3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8" y="2240280"/>
            <a:ext cx="47548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00" b="1" i="0">
                <a:solidFill>
                  <a:srgbClr val="A8322A"/>
                </a:solidFill>
                <a:latin typeface="Segoe UI"/>
              </a:rPr>
              <a:t>THREATS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•  Automated overpayment: </a:t>
            </a:r>
            <a:r>
              <a:rPr sz="1600" b="0" i="0">
                <a:solidFill>
                  <a:srgbClr val="16232A"/>
                </a:solidFill>
                <a:latin typeface="Segoe UI"/>
              </a:rPr>
              <a:t>copy-forward errors become coded claims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•  False confidence: </a:t>
            </a:r>
            <a:r>
              <a:rPr sz="1600" b="0" i="0">
                <a:solidFill>
                  <a:srgbClr val="16232A"/>
                </a:solidFill>
                <a:latin typeface="Segoe UI"/>
              </a:rPr>
              <a:t>prompt warnings leave most errors in place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•  Provider abrasion: </a:t>
            </a:r>
            <a:r>
              <a:rPr sz="1600" b="0" i="0">
                <a:solidFill>
                  <a:srgbClr val="16232A"/>
                </a:solidFill>
                <a:latin typeface="Segoe UI"/>
              </a:rPr>
              <a:t>over-strict auditors could deny true diagnoses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 i="0">
                <a:solidFill>
                  <a:srgbClr val="16232A"/>
                </a:solidFill>
                <a:latin typeface="Segoe UI"/>
              </a:rPr>
              <a:t>•  Synthetic-to-real gap: </a:t>
            </a:r>
            <a:r>
              <a:rPr sz="1600" b="0" i="0">
                <a:solidFill>
                  <a:srgbClr val="16232A"/>
                </a:solidFill>
                <a:latin typeface="Segoe UI"/>
              </a:rPr>
              <a:t>results need confirming on real records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 spc="150">
                <a:solidFill>
                  <a:srgbClr val="56666D"/>
                </a:solidFill>
                <a:latin typeface="Segoe U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6666D"/>
                </a:solidFill>
                <a:latin typeface="Consolas"/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32A"/>
                </a:solidFill>
                <a:latin typeface="Georgia"/>
              </a:rPr>
              <a:t>Three moves for Cotiviti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1D5C74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65960"/>
            <a:ext cx="9875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 i="0">
                <a:solidFill>
                  <a:srgbClr val="16232A"/>
                </a:solidFill>
                <a:latin typeface="Segoe UI"/>
              </a:rPr>
              <a:t>Adopt an evidence-first standard for AI coding and review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56666D"/>
                </a:solidFill>
                <a:latin typeface="Segoe UI"/>
              </a:rPr>
              <a:t>Every AI-generated or AI-reviewed code cites encounter-level evidence; problem-list-only codes go to a human. Pilot in clinical chart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1D5C74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200400"/>
            <a:ext cx="9875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 i="0">
                <a:solidFill>
                  <a:srgbClr val="16232A"/>
                </a:solidFill>
                <a:latin typeface="Segoe UI"/>
              </a:rPr>
              <a:t>Make planted-error stress tests a release gate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56666D"/>
                </a:solidFill>
                <a:latin typeface="Segoe UI"/>
              </a:rPr>
              <a:t>Test every coding or audit model, vendor or in-house, on paired clean and planted charts. Report propagation, not just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1D5C74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434840"/>
            <a:ext cx="9875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 i="0">
                <a:solidFill>
                  <a:srgbClr val="16232A"/>
                </a:solidFill>
                <a:latin typeface="Segoe UI"/>
              </a:rPr>
              <a:t>Take a position in the coding arms race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56666D"/>
                </a:solidFill>
                <a:latin typeface="Segoe UI"/>
              </a:rPr>
              <a:t>Publish a payer-side documentation-evidence standard and partner with benchmark groups to extend tests to documentation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6666D"/>
                </a:solidFill>
                <a:latin typeface="Segoe UI"/>
              </a:rPr>
              <a:t>Code, data and full results in the GitHub repository. References in the written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